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sldIdLst>
    <p:sldId id="256" r:id="rId2"/>
    <p:sldId id="257" r:id="rId3"/>
    <p:sldId id="260" r:id="rId4"/>
    <p:sldId id="263" r:id="rId5"/>
    <p:sldId id="264" r:id="rId6"/>
    <p:sldId id="265" r:id="rId7"/>
    <p:sldId id="266" r:id="rId8"/>
    <p:sldId id="262" r:id="rId9"/>
    <p:sldId id="259" r:id="rId10"/>
    <p:sldId id="269" r:id="rId11"/>
    <p:sldId id="268" r:id="rId12"/>
    <p:sldId id="267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D0D93-C7EF-3A55-75F6-4386479198E4}" v="120" dt="2025-11-24T02:26:58.205"/>
    <p1510:client id="{55FB64A2-09EA-B6D1-36BC-D2259E44E710}" v="11" dt="2025-11-23T21:47:47.408"/>
    <p1510:client id="{787154CD-503D-CEED-0A8F-E7A8113741F4}" v="36" dt="2025-11-25T00:30:15.922"/>
    <p1510:client id="{8541886A-6D20-2BFC-2C34-DAD44E209348}" v="22" dt="2025-11-25T21:07:37.773"/>
    <p1510:client id="{E3603C93-A97F-8C6E-07F1-80F774161CC9}" v="63" dt="2025-11-23T21:21:03.767"/>
    <p1510:client id="{F5FC91D5-24B6-43C1-3D2B-EBF61BB62278}" v="55" dt="2025-11-25T00:00:58.921"/>
    <p1510:client id="{FEE5F80B-D5D2-4D8F-D0E8-EB1FFF9D2E1B}" v="86" dt="2025-11-24T03:49:09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2" autoAdjust="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outlineViewPr>
    <p:cViewPr>
      <p:scale>
        <a:sx n="33" d="100"/>
        <a:sy n="33" d="100"/>
      </p:scale>
      <p:origin x="0" y="-367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3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5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3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08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2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1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4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8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6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9379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40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1842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2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71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7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8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Kqd8BYtWD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8566" y="759100"/>
            <a:ext cx="9475694" cy="2805994"/>
          </a:xfrm>
        </p:spPr>
        <p:txBody>
          <a:bodyPr anchor="t">
            <a:noAutofit/>
          </a:bodyPr>
          <a:lstStyle/>
          <a:p>
            <a:pPr algn="l"/>
            <a:r>
              <a:rPr lang="pt-BR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CHALLENGE FOR THE CLASSIFICATION OF LABELED RECYCLABLE MATERIALS FOCUSED ON GLASS AND PLASTIC USING ARTIFICIAL INTELLIGENCE AND COMPUTER VISION</a:t>
            </a:r>
            <a:endParaRPr lang="pt-BR" sz="3600" dirty="0">
              <a:solidFill>
                <a:schemeClr val="accent1">
                  <a:lumMod val="76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2531761" cy="1724029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400">
                <a:solidFill>
                  <a:srgbClr val="FFFFFF"/>
                </a:solidFill>
                <a:latin typeface="Arial"/>
                <a:cs typeface="Arial"/>
              </a:rPr>
              <a:t>Grupo 9:</a:t>
            </a:r>
            <a:br>
              <a:rPr lang="en-US" sz="2400">
                <a:latin typeface="Arial"/>
              </a:rPr>
            </a:br>
            <a:br>
              <a:rPr lang="en-US" sz="2400">
                <a:latin typeface="Arial"/>
              </a:rPr>
            </a:br>
            <a:r>
              <a:rPr lang="en-US" sz="2400">
                <a:solidFill>
                  <a:srgbClr val="FFFFFF"/>
                </a:solidFill>
                <a:latin typeface="Arial"/>
                <a:cs typeface="Arial"/>
              </a:rPr>
              <a:t>Pedro Dias</a:t>
            </a:r>
            <a:br>
              <a:rPr lang="en-US" sz="2400">
                <a:latin typeface="Arial"/>
              </a:rPr>
            </a:br>
            <a:r>
              <a:rPr lang="en-US" sz="2400">
                <a:solidFill>
                  <a:srgbClr val="FFFFFF"/>
                </a:solidFill>
                <a:latin typeface="Arial"/>
                <a:cs typeface="Arial"/>
              </a:rPr>
              <a:t>Giovana Sanchez</a:t>
            </a:r>
            <a:br>
              <a:rPr lang="en-US" sz="2400">
                <a:latin typeface="Arial"/>
              </a:rPr>
            </a:br>
            <a:r>
              <a:rPr lang="en-US" sz="2400">
                <a:solidFill>
                  <a:srgbClr val="FFFFFF"/>
                </a:solidFill>
                <a:latin typeface="Arial"/>
                <a:cs typeface="Arial"/>
              </a:rPr>
              <a:t>Helder Davidson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4C31-E7D0-6A93-01DB-81B7355D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38480"/>
            <a:ext cx="4288828" cy="853440"/>
          </a:xfrm>
        </p:spPr>
        <p:txBody>
          <a:bodyPr>
            <a:normAutofit/>
          </a:bodyPr>
          <a:lstStyle/>
          <a:p>
            <a:r>
              <a:rPr lang="en-US" err="1">
                <a:latin typeface="Arial"/>
                <a:cs typeface="Arial"/>
              </a:rPr>
              <a:t>Contextualização</a:t>
            </a:r>
            <a:endParaRPr lang="pt-BR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6614C-92D6-86C0-FBA9-09EE73190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80" y="2301719"/>
            <a:ext cx="8596668" cy="396650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900" dirty="0" err="1">
                <a:latin typeface="Arial"/>
                <a:cs typeface="Arial"/>
              </a:rPr>
              <a:t>Problema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enfrentado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na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Sociedade</a:t>
            </a:r>
            <a:r>
              <a:rPr lang="en-US" sz="1900" dirty="0">
                <a:latin typeface="Arial"/>
                <a:cs typeface="Arial"/>
              </a:rPr>
              <a:t> Mundial </a:t>
            </a:r>
            <a:r>
              <a:rPr lang="en-US" sz="1900" dirty="0" err="1">
                <a:latin typeface="Arial"/>
                <a:cs typeface="Arial"/>
              </a:rPr>
              <a:t>desde</a:t>
            </a:r>
            <a:r>
              <a:rPr lang="en-US" sz="1900" dirty="0">
                <a:latin typeface="Arial"/>
                <a:cs typeface="Arial"/>
              </a:rPr>
              <a:t> o </a:t>
            </a:r>
            <a:r>
              <a:rPr lang="en-US" sz="1900" dirty="0" err="1">
                <a:latin typeface="Arial"/>
                <a:cs typeface="Arial"/>
              </a:rPr>
              <a:t>século</a:t>
            </a:r>
            <a:r>
              <a:rPr lang="en-US" sz="1900" dirty="0">
                <a:latin typeface="Arial"/>
                <a:cs typeface="Arial"/>
              </a:rPr>
              <a:t> XX.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>
                <a:latin typeface="Arial"/>
                <a:cs typeface="Arial"/>
              </a:rPr>
              <a:t>Como outros </a:t>
            </a:r>
            <a:r>
              <a:rPr lang="en-US" sz="1900" dirty="0" err="1">
                <a:latin typeface="Arial"/>
                <a:cs typeface="Arial"/>
              </a:rPr>
              <a:t>paises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estão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lidando</a:t>
            </a:r>
            <a:r>
              <a:rPr lang="en-US" sz="1900" dirty="0">
                <a:latin typeface="Arial"/>
                <a:cs typeface="Arial"/>
              </a:rPr>
              <a:t> com o </a:t>
            </a:r>
            <a:r>
              <a:rPr lang="en-US" sz="1900" dirty="0" err="1">
                <a:latin typeface="Arial"/>
                <a:cs typeface="Arial"/>
              </a:rPr>
              <a:t>problema</a:t>
            </a:r>
            <a:r>
              <a:rPr lang="en-US" sz="1900" dirty="0">
                <a:latin typeface="Arial"/>
                <a:cs typeface="Arial"/>
              </a:rPr>
              <a:t> (</a:t>
            </a:r>
            <a:r>
              <a:rPr lang="en-US" sz="190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Video demonstrativo</a:t>
            </a:r>
            <a:r>
              <a:rPr lang="en-US" sz="1900" dirty="0">
                <a:latin typeface="Arial"/>
                <a:cs typeface="Arial"/>
              </a:rPr>
              <a:t>);</a:t>
            </a:r>
            <a:endParaRPr lang="en-US" sz="1900" dirty="0">
              <a:solidFill>
                <a:srgbClr val="000000"/>
              </a:solidFill>
              <a:latin typeface="Arial"/>
              <a:cs typeface="Arial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>
                <a:latin typeface="Arial"/>
                <a:cs typeface="Arial"/>
              </a:rPr>
              <a:t>Como </a:t>
            </a:r>
            <a:r>
              <a:rPr lang="en-US" sz="1900" dirty="0" err="1">
                <a:latin typeface="Arial"/>
                <a:cs typeface="Arial"/>
              </a:rPr>
              <a:t>empresas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ajudam</a:t>
            </a:r>
            <a:r>
              <a:rPr lang="en-US" sz="1900" dirty="0">
                <a:latin typeface="Arial"/>
                <a:cs typeface="Arial"/>
              </a:rPr>
              <a:t> a </a:t>
            </a:r>
            <a:r>
              <a:rPr lang="en-US" sz="1900" dirty="0" err="1">
                <a:latin typeface="Arial"/>
                <a:cs typeface="Arial"/>
              </a:rPr>
              <a:t>melhorar</a:t>
            </a:r>
            <a:r>
              <a:rPr lang="en-US" sz="1900" dirty="0">
                <a:latin typeface="Arial"/>
                <a:cs typeface="Arial"/>
              </a:rPr>
              <a:t> esse </a:t>
            </a:r>
            <a:r>
              <a:rPr lang="en-US" sz="1900" dirty="0" err="1">
                <a:latin typeface="Arial"/>
                <a:cs typeface="Arial"/>
              </a:rPr>
              <a:t>problema</a:t>
            </a:r>
            <a:r>
              <a:rPr lang="en-US" sz="1900" dirty="0">
                <a:latin typeface="Arial"/>
                <a:cs typeface="Arial"/>
              </a:rPr>
              <a:t>.</a:t>
            </a:r>
          </a:p>
          <a:p>
            <a:r>
              <a:rPr lang="en-US" sz="1900" dirty="0">
                <a:latin typeface="Arial"/>
                <a:cs typeface="Arial"/>
              </a:rPr>
              <a:t>Nossa forma de </a:t>
            </a:r>
            <a:r>
              <a:rPr lang="en-US" sz="1900" dirty="0" err="1">
                <a:latin typeface="Arial"/>
                <a:cs typeface="Arial"/>
              </a:rPr>
              <a:t>ajudar</a:t>
            </a:r>
            <a:r>
              <a:rPr lang="en-US" sz="1900" dirty="0">
                <a:latin typeface="Arial"/>
                <a:cs typeface="Arial"/>
              </a:rPr>
              <a:t> o </a:t>
            </a:r>
            <a:r>
              <a:rPr lang="en-US" sz="1900" dirty="0" err="1">
                <a:latin typeface="Arial"/>
                <a:cs typeface="Arial"/>
              </a:rPr>
              <a:t>mundo</a:t>
            </a:r>
            <a:r>
              <a:rPr lang="en-US" sz="1900" dirty="0">
                <a:latin typeface="Arial"/>
                <a:cs typeface="Arial"/>
              </a:rPr>
              <a:t> a se </a:t>
            </a:r>
            <a:r>
              <a:rPr lang="en-US" sz="1900" dirty="0" err="1">
                <a:latin typeface="Arial"/>
                <a:cs typeface="Arial"/>
              </a:rPr>
              <a:t>tornar</a:t>
            </a:r>
            <a:r>
              <a:rPr lang="en-US" sz="1900" dirty="0">
                <a:latin typeface="Arial"/>
                <a:cs typeface="Arial"/>
              </a:rPr>
              <a:t> um </a:t>
            </a:r>
            <a:r>
              <a:rPr lang="en-US" sz="1900" dirty="0" err="1">
                <a:latin typeface="Arial"/>
                <a:cs typeface="Arial"/>
              </a:rPr>
              <a:t>lugar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melhor</a:t>
            </a:r>
            <a:r>
              <a:rPr lang="en-US" sz="1900" dirty="0">
                <a:latin typeface="Arial"/>
                <a:cs typeface="Arial"/>
              </a:rPr>
              <a:t>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 err="1">
                <a:latin typeface="Arial"/>
                <a:cs typeface="Arial"/>
              </a:rPr>
              <a:t>Viabilidade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Econômica</a:t>
            </a:r>
            <a:r>
              <a:rPr lang="en-US" sz="1900" dirty="0">
                <a:latin typeface="Arial"/>
                <a:cs typeface="Arial"/>
              </a:rPr>
              <a:t> (</a:t>
            </a:r>
            <a:r>
              <a:rPr lang="en-US" sz="1900" dirty="0" err="1">
                <a:latin typeface="Arial"/>
                <a:cs typeface="Arial"/>
              </a:rPr>
              <a:t>Velocidade</a:t>
            </a:r>
            <a:r>
              <a:rPr lang="en-US" sz="1900" dirty="0">
                <a:latin typeface="Arial"/>
                <a:cs typeface="Arial"/>
              </a:rPr>
              <a:t> e </a:t>
            </a:r>
            <a:r>
              <a:rPr lang="en-US" sz="1900" dirty="0" err="1">
                <a:latin typeface="Arial"/>
                <a:cs typeface="Arial"/>
              </a:rPr>
              <a:t>precisão</a:t>
            </a:r>
            <a:r>
              <a:rPr lang="en-US" sz="1900" dirty="0">
                <a:latin typeface="Arial"/>
                <a:cs typeface="Arial"/>
              </a:rPr>
              <a:t> da </a:t>
            </a:r>
            <a:r>
              <a:rPr lang="en-US" sz="1900" dirty="0" err="1">
                <a:latin typeface="Arial"/>
                <a:cs typeface="Arial"/>
              </a:rPr>
              <a:t>triagem</a:t>
            </a:r>
            <a:r>
              <a:rPr lang="en-US" sz="1900" dirty="0">
                <a:latin typeface="Arial"/>
                <a:cs typeface="Arial"/>
              </a:rPr>
              <a:t> x </a:t>
            </a:r>
            <a:r>
              <a:rPr lang="en-US" sz="1900" dirty="0" err="1">
                <a:latin typeface="Arial"/>
                <a:cs typeface="Arial"/>
              </a:rPr>
              <a:t>qualidade</a:t>
            </a:r>
            <a:r>
              <a:rPr lang="en-US" sz="1900" dirty="0">
                <a:latin typeface="Arial"/>
                <a:cs typeface="Arial"/>
              </a:rPr>
              <a:t>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>
                <a:latin typeface="Arial"/>
                <a:cs typeface="Arial"/>
              </a:rPr>
              <a:t>Impacto Ambiental (Maior </a:t>
            </a:r>
            <a:r>
              <a:rPr lang="en-US" sz="1900" dirty="0" err="1">
                <a:latin typeface="Arial"/>
                <a:cs typeface="Arial"/>
              </a:rPr>
              <a:t>quantidade</a:t>
            </a:r>
            <a:r>
              <a:rPr lang="en-US" sz="1900" dirty="0">
                <a:latin typeface="Arial"/>
                <a:cs typeface="Arial"/>
              </a:rPr>
              <a:t> de </a:t>
            </a:r>
            <a:r>
              <a:rPr lang="en-US" sz="1900" dirty="0" err="1">
                <a:latin typeface="Arial"/>
                <a:cs typeface="Arial"/>
              </a:rPr>
              <a:t>reclicagem</a:t>
            </a:r>
            <a:r>
              <a:rPr lang="en-US" sz="1900" dirty="0">
                <a:latin typeface="Arial"/>
                <a:cs typeface="Arial"/>
              </a:rPr>
              <a:t> = </a:t>
            </a:r>
            <a:r>
              <a:rPr lang="en-US" sz="1900" dirty="0" err="1">
                <a:latin typeface="Arial"/>
                <a:cs typeface="Arial"/>
              </a:rPr>
              <a:t>menor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necessidade</a:t>
            </a:r>
            <a:r>
              <a:rPr lang="en-US" sz="1900" dirty="0">
                <a:latin typeface="Arial"/>
                <a:cs typeface="Arial"/>
              </a:rPr>
              <a:t> de </a:t>
            </a:r>
            <a:r>
              <a:rPr lang="en-US" sz="1900" dirty="0" err="1">
                <a:latin typeface="Arial"/>
                <a:cs typeface="Arial"/>
              </a:rPr>
              <a:t>extração</a:t>
            </a:r>
            <a:r>
              <a:rPr lang="en-US" sz="1900" dirty="0">
                <a:latin typeface="Arial"/>
                <a:cs typeface="Arial"/>
              </a:rPr>
              <a:t>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 err="1">
                <a:latin typeface="Arial"/>
                <a:cs typeface="Arial"/>
              </a:rPr>
              <a:t>Benefício</a:t>
            </a:r>
            <a:r>
              <a:rPr lang="en-US" sz="1900" dirty="0">
                <a:latin typeface="Arial"/>
                <a:cs typeface="Arial"/>
              </a:rPr>
              <a:t> Social (Menor </a:t>
            </a:r>
            <a:r>
              <a:rPr lang="en-US" sz="1900" dirty="0" err="1">
                <a:latin typeface="Arial"/>
                <a:cs typeface="Arial"/>
              </a:rPr>
              <a:t>exposição</a:t>
            </a:r>
            <a:r>
              <a:rPr lang="en-US" sz="1900" dirty="0">
                <a:latin typeface="Arial"/>
                <a:cs typeface="Arial"/>
              </a:rPr>
              <a:t> a </a:t>
            </a:r>
            <a:r>
              <a:rPr lang="en-US" sz="1900" dirty="0" err="1">
                <a:latin typeface="Arial"/>
                <a:cs typeface="Arial"/>
              </a:rPr>
              <a:t>condições</a:t>
            </a:r>
            <a:r>
              <a:rPr lang="en-US" sz="1900" dirty="0">
                <a:latin typeface="Arial"/>
                <a:cs typeface="Arial"/>
              </a:rPr>
              <a:t> de </a:t>
            </a:r>
            <a:r>
              <a:rPr lang="en-US" sz="1900" dirty="0" err="1">
                <a:latin typeface="Arial"/>
                <a:cs typeface="Arial"/>
              </a:rPr>
              <a:t>trabalho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insalubres</a:t>
            </a:r>
            <a:r>
              <a:rPr lang="en-US" sz="1900" dirty="0">
                <a:latin typeface="Arial"/>
                <a:cs typeface="Arial"/>
              </a:rPr>
              <a:t> e </a:t>
            </a:r>
            <a:r>
              <a:rPr lang="en-US" sz="1900" dirty="0" err="1">
                <a:latin typeface="Arial"/>
                <a:cs typeface="Arial"/>
              </a:rPr>
              <a:t>realocação</a:t>
            </a:r>
            <a:r>
              <a:rPr lang="en-US" sz="1900" dirty="0">
                <a:latin typeface="Arial"/>
                <a:cs typeface="Arial"/>
              </a:rPr>
              <a:t> para </a:t>
            </a:r>
            <a:r>
              <a:rPr lang="en-US" sz="1900" dirty="0" err="1">
                <a:latin typeface="Arial"/>
                <a:cs typeface="Arial"/>
              </a:rPr>
              <a:t>funções</a:t>
            </a:r>
            <a:r>
              <a:rPr lang="en-US" sz="1900" dirty="0">
                <a:latin typeface="Arial"/>
                <a:cs typeface="Arial"/>
              </a:rPr>
              <a:t> </a:t>
            </a:r>
            <a:r>
              <a:rPr lang="en-US" sz="1900" dirty="0" err="1">
                <a:latin typeface="Arial"/>
                <a:cs typeface="Arial"/>
              </a:rPr>
              <a:t>dignas</a:t>
            </a:r>
            <a:r>
              <a:rPr lang="en-US" sz="1900" dirty="0">
                <a:latin typeface="Arial"/>
                <a:cs typeface="Arial"/>
              </a:rPr>
              <a:t> e </a:t>
            </a:r>
            <a:r>
              <a:rPr lang="en-US" sz="1900" dirty="0" err="1">
                <a:latin typeface="Arial"/>
                <a:cs typeface="Arial"/>
              </a:rPr>
              <a:t>seguras</a:t>
            </a:r>
            <a:r>
              <a:rPr lang="en-US" sz="1900" dirty="0">
                <a:latin typeface="Arial"/>
                <a:cs typeface="Arial"/>
              </a:rPr>
              <a:t>).</a:t>
            </a:r>
          </a:p>
          <a:p>
            <a:pPr lvl="1">
              <a:buFont typeface="Courier New" charset="2"/>
              <a:buChar char="o"/>
            </a:pPr>
            <a:endParaRPr lang="en-US" sz="1900" dirty="0">
              <a:latin typeface="Arial"/>
              <a:cs typeface="Arial"/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0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5325E-E244-3EE3-9642-F795698F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74" y="1934453"/>
            <a:ext cx="8296295" cy="297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err="1">
                <a:solidFill>
                  <a:srgbClr val="6C911C"/>
                </a:solidFill>
                <a:latin typeface="Arial"/>
                <a:cs typeface="Arial"/>
              </a:rPr>
              <a:t>Contextualização</a:t>
            </a:r>
            <a:r>
              <a:rPr lang="en-US" sz="5400">
                <a:solidFill>
                  <a:srgbClr val="6C911C"/>
                </a:solidFill>
                <a:latin typeface="Arial"/>
                <a:cs typeface="Arial"/>
              </a:rPr>
              <a:t> Técnica</a:t>
            </a:r>
          </a:p>
        </p:txBody>
      </p:sp>
    </p:spTree>
    <p:extLst>
      <p:ext uri="{BB962C8B-B14F-4D97-AF65-F5344CB8AC3E}">
        <p14:creationId xmlns:p14="http://schemas.microsoft.com/office/powerpoint/2010/main" val="2949873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044E0-D592-555C-F762-D4D1E1E9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5EB3-6AFC-7A19-F795-0884EE59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59" y="496727"/>
            <a:ext cx="5572745" cy="1030892"/>
          </a:xfrm>
        </p:spPr>
        <p:txBody>
          <a:bodyPr>
            <a:normAutofit/>
          </a:bodyPr>
          <a:lstStyle/>
          <a:p>
            <a:r>
              <a:rPr lang="en-US" err="1">
                <a:latin typeface="Arial"/>
                <a:ea typeface="+mj-lt"/>
                <a:cs typeface="+mj-lt"/>
              </a:rPr>
              <a:t>Fundamentos</a:t>
            </a:r>
            <a:r>
              <a:rPr lang="en-US">
                <a:latin typeface="Arial"/>
                <a:ea typeface="+mj-lt"/>
                <a:cs typeface="+mj-lt"/>
              </a:rPr>
              <a:t> </a:t>
            </a:r>
            <a:r>
              <a:rPr lang="en-US" err="1">
                <a:latin typeface="Arial"/>
                <a:ea typeface="+mj-lt"/>
                <a:cs typeface="+mj-lt"/>
              </a:rPr>
              <a:t>Técnicos</a:t>
            </a:r>
            <a:r>
              <a:rPr lang="en-US">
                <a:latin typeface="Arial"/>
                <a:ea typeface="+mj-lt"/>
                <a:cs typeface="+mj-lt"/>
              </a:rPr>
              <a:t> </a:t>
            </a:r>
            <a:endParaRPr lang="pt-BR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B2494-9266-6B13-12CC-5C04DA192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66" y="2426980"/>
            <a:ext cx="8596668" cy="37994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latin typeface="Arial"/>
                <a:ea typeface="+mn-lt"/>
                <a:cs typeface="+mn-lt"/>
              </a:rPr>
              <a:t>Machine Learning:</a:t>
            </a:r>
            <a:r>
              <a:rPr lang="en-US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algoritmos</a:t>
            </a:r>
            <a:r>
              <a:rPr lang="en-US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que</a:t>
            </a:r>
            <a:r>
              <a:rPr lang="en-US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aprendem</a:t>
            </a:r>
            <a:r>
              <a:rPr lang="en-US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padrões</a:t>
            </a:r>
            <a:r>
              <a:rPr lang="en-US">
                <a:latin typeface="Arial"/>
                <a:ea typeface="+mn-lt"/>
                <a:cs typeface="+mn-lt"/>
              </a:rPr>
              <a:t> e </a:t>
            </a:r>
            <a:r>
              <a:rPr lang="en-US" err="1">
                <a:latin typeface="Arial"/>
                <a:ea typeface="+mn-lt"/>
                <a:cs typeface="+mn-lt"/>
              </a:rPr>
              <a:t>fazem</a:t>
            </a:r>
            <a:r>
              <a:rPr lang="en-US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previsões</a:t>
            </a:r>
            <a:r>
              <a:rPr lang="en-US">
                <a:latin typeface="Arial"/>
                <a:ea typeface="+mn-lt"/>
                <a:cs typeface="+mn-lt"/>
              </a:rPr>
              <a:t> a </a:t>
            </a:r>
            <a:r>
              <a:rPr lang="en-US" err="1">
                <a:latin typeface="Arial"/>
                <a:ea typeface="+mn-lt"/>
                <a:cs typeface="+mn-lt"/>
              </a:rPr>
              <a:t>partir</a:t>
            </a:r>
            <a:r>
              <a:rPr lang="en-US">
                <a:latin typeface="Arial"/>
                <a:ea typeface="+mn-lt"/>
                <a:cs typeface="+mn-lt"/>
              </a:rPr>
              <a:t> de dados.</a:t>
            </a:r>
            <a:endParaRPr lang="pt-BR"/>
          </a:p>
          <a:p>
            <a:r>
              <a:rPr lang="en-US" b="1">
                <a:latin typeface="Arial"/>
                <a:ea typeface="+mn-lt"/>
                <a:cs typeface="+mn-lt"/>
              </a:rPr>
              <a:t>Deep Learning:</a:t>
            </a:r>
            <a:r>
              <a:rPr lang="en-US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uso</a:t>
            </a:r>
            <a:r>
              <a:rPr lang="en-US">
                <a:latin typeface="Arial"/>
                <a:ea typeface="+mn-lt"/>
                <a:cs typeface="+mn-lt"/>
              </a:rPr>
              <a:t> de Redes </a:t>
            </a:r>
            <a:r>
              <a:rPr lang="en-US" err="1">
                <a:latin typeface="Arial"/>
                <a:ea typeface="+mn-lt"/>
                <a:cs typeface="+mn-lt"/>
              </a:rPr>
              <a:t>Neurais</a:t>
            </a:r>
            <a:r>
              <a:rPr lang="en-US">
                <a:latin typeface="Arial"/>
                <a:ea typeface="+mn-lt"/>
                <a:cs typeface="+mn-lt"/>
              </a:rPr>
              <a:t> (</a:t>
            </a:r>
            <a:r>
              <a:rPr lang="en-US" err="1">
                <a:latin typeface="Arial"/>
                <a:ea typeface="+mn-lt"/>
                <a:cs typeface="+mn-lt"/>
              </a:rPr>
              <a:t>como</a:t>
            </a:r>
            <a:r>
              <a:rPr lang="en-US">
                <a:latin typeface="Arial"/>
                <a:ea typeface="+mn-lt"/>
                <a:cs typeface="+mn-lt"/>
              </a:rPr>
              <a:t> CNNs), base de </a:t>
            </a:r>
            <a:r>
              <a:rPr lang="en-US" err="1">
                <a:latin typeface="Arial"/>
                <a:ea typeface="+mn-lt"/>
                <a:cs typeface="+mn-lt"/>
              </a:rPr>
              <a:t>modelos</a:t>
            </a:r>
            <a:r>
              <a:rPr lang="en-US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como</a:t>
            </a:r>
            <a:r>
              <a:rPr lang="en-US">
                <a:latin typeface="Arial"/>
                <a:ea typeface="+mn-lt"/>
                <a:cs typeface="+mn-lt"/>
              </a:rPr>
              <a:t> o </a:t>
            </a:r>
            <a:r>
              <a:rPr lang="en-US" b="1">
                <a:latin typeface="Arial"/>
                <a:ea typeface="+mn-lt"/>
                <a:cs typeface="+mn-lt"/>
              </a:rPr>
              <a:t>YOLO</a:t>
            </a:r>
            <a:r>
              <a:rPr lang="en-US">
                <a:latin typeface="Arial"/>
                <a:ea typeface="+mn-lt"/>
                <a:cs typeface="+mn-lt"/>
              </a:rPr>
              <a:t>.</a:t>
            </a:r>
            <a:endParaRPr lang="en-US">
              <a:latin typeface="Arial"/>
              <a:cs typeface="Arial"/>
            </a:endParaRPr>
          </a:p>
          <a:p>
            <a:r>
              <a:rPr lang="en-US" b="1" err="1">
                <a:latin typeface="Arial"/>
                <a:ea typeface="+mn-lt"/>
                <a:cs typeface="+mn-lt"/>
              </a:rPr>
              <a:t>Classificação</a:t>
            </a:r>
            <a:r>
              <a:rPr lang="en-US" b="1">
                <a:latin typeface="Arial"/>
                <a:ea typeface="+mn-lt"/>
                <a:cs typeface="+mn-lt"/>
              </a:rPr>
              <a:t> x </a:t>
            </a:r>
            <a:r>
              <a:rPr lang="en-US" b="1" err="1">
                <a:latin typeface="Arial"/>
                <a:ea typeface="+mn-lt"/>
                <a:cs typeface="+mn-lt"/>
              </a:rPr>
              <a:t>Detecção</a:t>
            </a:r>
            <a:r>
              <a:rPr lang="en-US" b="1">
                <a:latin typeface="Arial"/>
                <a:ea typeface="+mn-lt"/>
                <a:cs typeface="+mn-lt"/>
              </a:rPr>
              <a:t>:</a:t>
            </a:r>
            <a:endParaRPr lang="en-US">
              <a:latin typeface="Arial"/>
              <a:cs typeface="Arial"/>
            </a:endParaRPr>
          </a:p>
          <a:p>
            <a:pPr lvl="1"/>
            <a:r>
              <a:rPr lang="en-US" sz="1800" b="1" err="1">
                <a:latin typeface="Arial"/>
                <a:ea typeface="+mn-lt"/>
                <a:cs typeface="+mn-lt"/>
              </a:rPr>
              <a:t>Classificação</a:t>
            </a:r>
            <a:r>
              <a:rPr lang="en-US" sz="1800" b="1">
                <a:latin typeface="Arial"/>
                <a:ea typeface="+mn-lt"/>
                <a:cs typeface="+mn-lt"/>
              </a:rPr>
              <a:t>: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diz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i="1">
                <a:latin typeface="Arial"/>
                <a:ea typeface="+mn-lt"/>
                <a:cs typeface="+mn-lt"/>
              </a:rPr>
              <a:t>o </a:t>
            </a:r>
            <a:r>
              <a:rPr lang="en-US" sz="1800" i="1" err="1">
                <a:latin typeface="Arial"/>
                <a:ea typeface="+mn-lt"/>
                <a:cs typeface="+mn-lt"/>
              </a:rPr>
              <a:t>que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há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na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imagem</a:t>
            </a:r>
            <a:r>
              <a:rPr lang="en-US" sz="1800">
                <a:latin typeface="Arial"/>
                <a:ea typeface="+mn-lt"/>
                <a:cs typeface="+mn-lt"/>
              </a:rPr>
              <a:t>.</a:t>
            </a:r>
            <a:endParaRPr lang="en-US" sz="1800">
              <a:latin typeface="Arial"/>
              <a:cs typeface="Arial"/>
            </a:endParaRPr>
          </a:p>
          <a:p>
            <a:pPr lvl="1"/>
            <a:r>
              <a:rPr lang="en-US" sz="1800" b="1" err="1">
                <a:latin typeface="Arial"/>
                <a:ea typeface="+mn-lt"/>
                <a:cs typeface="+mn-lt"/>
              </a:rPr>
              <a:t>Detecção</a:t>
            </a:r>
            <a:r>
              <a:rPr lang="en-US" sz="1800" b="1">
                <a:latin typeface="Arial"/>
                <a:ea typeface="+mn-lt"/>
                <a:cs typeface="+mn-lt"/>
              </a:rPr>
              <a:t>: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diz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i="1">
                <a:latin typeface="Arial"/>
                <a:ea typeface="+mn-lt"/>
                <a:cs typeface="+mn-lt"/>
              </a:rPr>
              <a:t>o </a:t>
            </a:r>
            <a:r>
              <a:rPr lang="en-US" sz="1800" i="1" err="1">
                <a:latin typeface="Arial"/>
                <a:ea typeface="+mn-lt"/>
                <a:cs typeface="+mn-lt"/>
              </a:rPr>
              <a:t>que</a:t>
            </a:r>
            <a:r>
              <a:rPr lang="en-US" sz="1800">
                <a:latin typeface="Arial"/>
                <a:ea typeface="+mn-lt"/>
                <a:cs typeface="+mn-lt"/>
              </a:rPr>
              <a:t> é </a:t>
            </a:r>
            <a:r>
              <a:rPr lang="en-US" sz="1800" i="1" err="1">
                <a:latin typeface="Arial"/>
                <a:ea typeface="+mn-lt"/>
                <a:cs typeface="+mn-lt"/>
              </a:rPr>
              <a:t>onde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está</a:t>
            </a:r>
            <a:r>
              <a:rPr lang="en-US" sz="1800">
                <a:latin typeface="Arial"/>
                <a:ea typeface="+mn-lt"/>
                <a:cs typeface="+mn-lt"/>
              </a:rPr>
              <a:t>, </a:t>
            </a:r>
            <a:r>
              <a:rPr lang="en-US" sz="1800" err="1">
                <a:latin typeface="Arial"/>
                <a:ea typeface="+mn-lt"/>
                <a:cs typeface="+mn-lt"/>
              </a:rPr>
              <a:t>permitindo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múltiplos</a:t>
            </a:r>
            <a:r>
              <a:rPr lang="en-US" sz="180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objetos</a:t>
            </a:r>
            <a:r>
              <a:rPr lang="en-US" sz="1800">
                <a:latin typeface="Arial"/>
                <a:ea typeface="+mn-lt"/>
                <a:cs typeface="+mn-lt"/>
              </a:rPr>
              <a:t>.</a:t>
            </a:r>
            <a:endParaRPr lang="en-US"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89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E6CAD-92F7-7865-392A-6D1BB959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9F64-A454-2B0E-B7EC-303E12E5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59" y="496727"/>
            <a:ext cx="6188608" cy="10308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err="1">
                <a:latin typeface="Arial"/>
                <a:ea typeface="+mj-lt"/>
                <a:cs typeface="+mj-lt"/>
              </a:rPr>
              <a:t>Avaliação</a:t>
            </a:r>
            <a:r>
              <a:rPr lang="en-US">
                <a:latin typeface="Arial"/>
                <a:ea typeface="+mj-lt"/>
                <a:cs typeface="+mj-lt"/>
              </a:rPr>
              <a:t> do </a:t>
            </a:r>
            <a:r>
              <a:rPr lang="en-US" err="1">
                <a:latin typeface="Arial"/>
                <a:ea typeface="+mj-lt"/>
                <a:cs typeface="+mj-lt"/>
              </a:rPr>
              <a:t>Desempenho</a:t>
            </a:r>
            <a:endParaRPr lang="pt-BR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535C-24E5-D698-7083-766ACC044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66" y="2426980"/>
            <a:ext cx="8596668" cy="40813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 err="1">
                <a:latin typeface="Arial"/>
                <a:ea typeface="+mn-lt"/>
                <a:cs typeface="+mn-lt"/>
              </a:rPr>
              <a:t>IoU</a:t>
            </a:r>
            <a:r>
              <a:rPr lang="en-US" b="1" dirty="0">
                <a:latin typeface="Arial"/>
                <a:ea typeface="+mn-lt"/>
                <a:cs typeface="+mn-lt"/>
              </a:rPr>
              <a:t> (Intersection over Union):</a:t>
            </a:r>
            <a:endParaRPr lang="en-US" dirty="0">
              <a:latin typeface="Arial"/>
              <a:ea typeface="+mn-lt"/>
              <a:cs typeface="+mn-lt"/>
            </a:endParaRPr>
          </a:p>
          <a:p>
            <a:pPr lvl="1"/>
            <a:r>
              <a:rPr lang="en-US" sz="1800" dirty="0">
                <a:latin typeface="Arial"/>
                <a:ea typeface="+mn-lt"/>
                <a:cs typeface="+mn-lt"/>
              </a:rPr>
              <a:t>Mede a </a:t>
            </a:r>
            <a:r>
              <a:rPr lang="en-US" sz="1800" dirty="0" err="1">
                <a:latin typeface="Arial"/>
                <a:ea typeface="+mn-lt"/>
                <a:cs typeface="+mn-lt"/>
              </a:rPr>
              <a:t>sobreposição</a:t>
            </a:r>
            <a:r>
              <a:rPr lang="en-US" sz="1800" dirty="0">
                <a:latin typeface="Arial"/>
                <a:ea typeface="+mn-lt"/>
                <a:cs typeface="+mn-lt"/>
              </a:rPr>
              <a:t> entre </a:t>
            </a:r>
            <a:r>
              <a:rPr lang="en-US" sz="1800" dirty="0" err="1">
                <a:latin typeface="Arial"/>
                <a:ea typeface="+mn-lt"/>
                <a:cs typeface="+mn-lt"/>
              </a:rPr>
              <a:t>caixa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dirty="0" err="1">
                <a:latin typeface="Arial"/>
                <a:ea typeface="+mn-lt"/>
                <a:cs typeface="+mn-lt"/>
              </a:rPr>
              <a:t>prevista</a:t>
            </a:r>
            <a:r>
              <a:rPr lang="en-US" sz="1800" dirty="0">
                <a:latin typeface="Arial"/>
                <a:ea typeface="+mn-lt"/>
                <a:cs typeface="+mn-lt"/>
              </a:rPr>
              <a:t> e real.</a:t>
            </a:r>
          </a:p>
          <a:p>
            <a:pPr lvl="1"/>
            <a:r>
              <a:rPr lang="en-US" sz="1800" dirty="0" err="1">
                <a:latin typeface="Arial"/>
                <a:ea typeface="+mn-lt"/>
                <a:cs typeface="+mn-lt"/>
              </a:rPr>
              <a:t>Quanto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dirty="0" err="1">
                <a:latin typeface="Arial"/>
                <a:ea typeface="+mn-lt"/>
                <a:cs typeface="+mn-lt"/>
              </a:rPr>
              <a:t>maior</a:t>
            </a:r>
            <a:r>
              <a:rPr lang="en-US" sz="1800" dirty="0">
                <a:latin typeface="Arial"/>
                <a:ea typeface="+mn-lt"/>
                <a:cs typeface="+mn-lt"/>
              </a:rPr>
              <a:t>, </a:t>
            </a:r>
            <a:r>
              <a:rPr lang="en-US" sz="1800" dirty="0" err="1">
                <a:latin typeface="Arial"/>
                <a:ea typeface="+mn-lt"/>
                <a:cs typeface="+mn-lt"/>
              </a:rPr>
              <a:t>melhor</a:t>
            </a:r>
            <a:r>
              <a:rPr lang="en-US" sz="1800" dirty="0">
                <a:latin typeface="Arial"/>
                <a:ea typeface="+mn-lt"/>
                <a:cs typeface="+mn-lt"/>
              </a:rPr>
              <a:t> (</a:t>
            </a:r>
            <a:r>
              <a:rPr lang="en-US" sz="1800" dirty="0" err="1">
                <a:latin typeface="Arial"/>
                <a:ea typeface="+mn-lt"/>
                <a:cs typeface="+mn-lt"/>
              </a:rPr>
              <a:t>sendo</a:t>
            </a:r>
            <a:r>
              <a:rPr lang="en-US" sz="1800" dirty="0">
                <a:latin typeface="Arial"/>
                <a:ea typeface="+mn-lt"/>
                <a:cs typeface="+mn-lt"/>
              </a:rPr>
              <a:t> de 0.5 </a:t>
            </a:r>
            <a:r>
              <a:rPr lang="en-US" sz="1800" dirty="0" err="1">
                <a:latin typeface="Arial"/>
                <a:ea typeface="+mn-lt"/>
                <a:cs typeface="+mn-lt"/>
              </a:rPr>
              <a:t>até</a:t>
            </a:r>
            <a:r>
              <a:rPr lang="en-US" sz="1800" dirty="0">
                <a:latin typeface="Arial"/>
                <a:ea typeface="+mn-lt"/>
                <a:cs typeface="+mn-lt"/>
              </a:rPr>
              <a:t> 1.0 </a:t>
            </a:r>
            <a:r>
              <a:rPr lang="en-US" sz="1800" dirty="0" err="1">
                <a:latin typeface="Arial"/>
                <a:ea typeface="+mn-lt"/>
                <a:cs typeface="+mn-lt"/>
              </a:rPr>
              <a:t>considerado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dirty="0" err="1">
                <a:latin typeface="Arial"/>
                <a:ea typeface="+mn-lt"/>
                <a:cs typeface="+mn-lt"/>
              </a:rPr>
              <a:t>acerto</a:t>
            </a:r>
            <a:r>
              <a:rPr lang="en-US" sz="1800" dirty="0">
                <a:latin typeface="Arial"/>
                <a:ea typeface="+mn-lt"/>
                <a:cs typeface="+mn-lt"/>
              </a:rPr>
              <a:t>).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b="1" dirty="0">
                <a:latin typeface="Arial"/>
                <a:ea typeface="+mn-lt"/>
                <a:cs typeface="+mn-lt"/>
              </a:rPr>
              <a:t>AP e </a:t>
            </a:r>
            <a:r>
              <a:rPr lang="en-US" b="1" dirty="0" err="1">
                <a:latin typeface="Arial"/>
                <a:ea typeface="+mn-lt"/>
                <a:cs typeface="+mn-lt"/>
              </a:rPr>
              <a:t>mAP</a:t>
            </a:r>
            <a:r>
              <a:rPr lang="en-US" b="1" dirty="0">
                <a:latin typeface="Arial"/>
                <a:ea typeface="+mn-lt"/>
                <a:cs typeface="+mn-lt"/>
              </a:rPr>
              <a:t>:</a:t>
            </a:r>
            <a:endParaRPr lang="en-US" dirty="0">
              <a:latin typeface="Arial"/>
              <a:ea typeface="+mn-lt"/>
              <a:cs typeface="+mn-lt"/>
            </a:endParaRPr>
          </a:p>
          <a:p>
            <a:pPr lvl="1"/>
            <a:r>
              <a:rPr lang="en-US" sz="1800" b="1" dirty="0">
                <a:latin typeface="Arial"/>
                <a:ea typeface="+mn-lt"/>
                <a:cs typeface="+mn-lt"/>
              </a:rPr>
              <a:t>AP: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dirty="0" err="1">
                <a:latin typeface="Arial"/>
                <a:ea typeface="+mn-lt"/>
                <a:cs typeface="+mn-lt"/>
              </a:rPr>
              <a:t>resumo</a:t>
            </a:r>
            <a:r>
              <a:rPr lang="en-US" sz="1800" dirty="0">
                <a:latin typeface="Arial"/>
                <a:ea typeface="+mn-lt"/>
                <a:cs typeface="+mn-lt"/>
              </a:rPr>
              <a:t> do </a:t>
            </a:r>
            <a:r>
              <a:rPr lang="en-US" sz="1800" dirty="0" err="1">
                <a:latin typeface="Arial"/>
                <a:ea typeface="+mn-lt"/>
                <a:cs typeface="+mn-lt"/>
              </a:rPr>
              <a:t>desempenho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dirty="0" err="1">
                <a:latin typeface="Arial"/>
                <a:ea typeface="+mn-lt"/>
                <a:cs typeface="+mn-lt"/>
              </a:rPr>
              <a:t>considerando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dirty="0" err="1">
                <a:latin typeface="Arial"/>
                <a:ea typeface="+mn-lt"/>
                <a:cs typeface="+mn-lt"/>
              </a:rPr>
              <a:t>Precisão</a:t>
            </a:r>
            <a:r>
              <a:rPr lang="en-US" sz="1800" dirty="0">
                <a:latin typeface="Arial"/>
                <a:ea typeface="+mn-lt"/>
                <a:cs typeface="+mn-lt"/>
              </a:rPr>
              <a:t> × Recall.</a:t>
            </a:r>
          </a:p>
          <a:p>
            <a:pPr lvl="1"/>
            <a:r>
              <a:rPr lang="en-US" sz="1800" b="1" dirty="0" err="1">
                <a:latin typeface="Arial"/>
                <a:ea typeface="+mn-lt"/>
                <a:cs typeface="+mn-lt"/>
              </a:rPr>
              <a:t>mAP</a:t>
            </a:r>
            <a:r>
              <a:rPr lang="en-US" sz="1800" b="1" dirty="0">
                <a:latin typeface="Arial"/>
                <a:ea typeface="+mn-lt"/>
                <a:cs typeface="+mn-lt"/>
              </a:rPr>
              <a:t>: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dirty="0" err="1">
                <a:latin typeface="Arial"/>
                <a:ea typeface="+mn-lt"/>
                <a:cs typeface="+mn-lt"/>
              </a:rPr>
              <a:t>média</a:t>
            </a:r>
            <a:r>
              <a:rPr lang="en-US" sz="1800" dirty="0">
                <a:latin typeface="Arial"/>
                <a:ea typeface="+mn-lt"/>
                <a:cs typeface="+mn-lt"/>
              </a:rPr>
              <a:t> do AP por </a:t>
            </a:r>
            <a:r>
              <a:rPr lang="en-US" sz="1800" dirty="0" err="1">
                <a:latin typeface="Arial"/>
                <a:ea typeface="+mn-lt"/>
                <a:cs typeface="+mn-lt"/>
              </a:rPr>
              <a:t>classe</a:t>
            </a:r>
            <a:r>
              <a:rPr lang="en-US" sz="1800" dirty="0">
                <a:latin typeface="Arial"/>
                <a:ea typeface="+mn-lt"/>
                <a:cs typeface="+mn-lt"/>
              </a:rPr>
              <a:t>.</a:t>
            </a:r>
          </a:p>
          <a:p>
            <a:pPr lvl="1"/>
            <a:r>
              <a:rPr lang="en-US" sz="1800" dirty="0">
                <a:latin typeface="Arial"/>
                <a:ea typeface="+mn-lt"/>
                <a:cs typeface="+mn-lt"/>
              </a:rPr>
              <a:t>No </a:t>
            </a:r>
            <a:r>
              <a:rPr lang="en-US" sz="1800" dirty="0" err="1">
                <a:latin typeface="Arial"/>
                <a:ea typeface="+mn-lt"/>
                <a:cs typeface="+mn-lt"/>
              </a:rPr>
              <a:t>projeto</a:t>
            </a:r>
            <a:r>
              <a:rPr lang="en-US" sz="1800" dirty="0">
                <a:latin typeface="Arial"/>
                <a:ea typeface="+mn-lt"/>
                <a:cs typeface="+mn-lt"/>
              </a:rPr>
              <a:t>: </a:t>
            </a:r>
            <a:r>
              <a:rPr lang="en-US" sz="1800" dirty="0" err="1">
                <a:latin typeface="Arial"/>
                <a:ea typeface="+mn-lt"/>
                <a:cs typeface="+mn-lt"/>
              </a:rPr>
              <a:t>média</a:t>
            </a:r>
            <a:r>
              <a:rPr lang="en-US" sz="1800" dirty="0">
                <a:latin typeface="Arial"/>
                <a:ea typeface="+mn-lt"/>
                <a:cs typeface="+mn-lt"/>
              </a:rPr>
              <a:t> entre </a:t>
            </a:r>
            <a:r>
              <a:rPr lang="en-US" sz="1800" b="1" dirty="0" err="1">
                <a:latin typeface="Arial"/>
                <a:ea typeface="+mn-lt"/>
                <a:cs typeface="+mn-lt"/>
              </a:rPr>
              <a:t>Plástico</a:t>
            </a:r>
            <a:r>
              <a:rPr lang="en-US" sz="1800" dirty="0">
                <a:latin typeface="Arial"/>
                <a:ea typeface="+mn-lt"/>
                <a:cs typeface="+mn-lt"/>
              </a:rPr>
              <a:t> e </a:t>
            </a:r>
            <a:r>
              <a:rPr lang="en-US" sz="1800" b="1" dirty="0" err="1">
                <a:latin typeface="Arial"/>
                <a:ea typeface="+mn-lt"/>
                <a:cs typeface="+mn-lt"/>
              </a:rPr>
              <a:t>Vidro</a:t>
            </a:r>
            <a:r>
              <a:rPr lang="en-US" sz="1800" dirty="0">
                <a:latin typeface="Arial"/>
                <a:ea typeface="+mn-lt"/>
                <a:cs typeface="+mn-lt"/>
              </a:rPr>
              <a:t>.</a:t>
            </a:r>
          </a:p>
          <a:p>
            <a:endParaRPr lang="en-US" dirty="0">
              <a:latin typeface="Arial"/>
              <a:cs typeface="Arial"/>
            </a:endParaRPr>
          </a:p>
          <a:p>
            <a:pPr lvl="1">
              <a:buFont typeface="Courier New" charset="2"/>
              <a:buChar char="o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0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52468-D904-47DC-57B6-52DADE99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1F67-79B2-5DEE-4B7C-67D605AA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59" y="496727"/>
            <a:ext cx="7768364" cy="7428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err="1">
                <a:latin typeface="Arial"/>
                <a:ea typeface="+mj-lt"/>
                <a:cs typeface="+mj-lt"/>
              </a:rPr>
              <a:t>Estrutura</a:t>
            </a:r>
            <a:r>
              <a:rPr lang="en-US">
                <a:latin typeface="Arial"/>
                <a:ea typeface="+mj-lt"/>
                <a:cs typeface="+mj-lt"/>
              </a:rPr>
              <a:t> da Base de Dados (YOLO)</a:t>
            </a:r>
            <a:endParaRPr lang="pt-BR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2C038-6FE3-4774-A7A1-9FA7E419B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15" y="2724346"/>
            <a:ext cx="6338547" cy="322640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Utilização</a:t>
            </a:r>
            <a:r>
              <a:rPr lang="en-US" dirty="0">
                <a:latin typeface="Arial"/>
                <a:ea typeface="+mn-lt"/>
                <a:cs typeface="+mn-lt"/>
              </a:rPr>
              <a:t> do </a:t>
            </a:r>
            <a:r>
              <a:rPr lang="en-US" dirty="0" err="1">
                <a:latin typeface="Arial"/>
                <a:ea typeface="+mn-lt"/>
                <a:cs typeface="+mn-lt"/>
              </a:rPr>
              <a:t>formato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b="1" dirty="0">
                <a:latin typeface="Arial"/>
                <a:ea typeface="+mn-lt"/>
                <a:cs typeface="+mn-lt"/>
              </a:rPr>
              <a:t>YOLO</a:t>
            </a:r>
            <a:r>
              <a:rPr lang="en-US" dirty="0">
                <a:latin typeface="Arial"/>
                <a:ea typeface="+mn-lt"/>
                <a:cs typeface="+mn-lt"/>
              </a:rPr>
              <a:t> para </a:t>
            </a:r>
            <a:r>
              <a:rPr lang="en-US" dirty="0" err="1">
                <a:latin typeface="Arial"/>
                <a:ea typeface="+mn-lt"/>
                <a:cs typeface="+mn-lt"/>
              </a:rPr>
              <a:t>detecção</a:t>
            </a:r>
            <a:r>
              <a:rPr lang="en-US" dirty="0">
                <a:latin typeface="Arial"/>
                <a:ea typeface="+mn-lt"/>
                <a:cs typeface="+mn-lt"/>
              </a:rPr>
              <a:t> de </a:t>
            </a:r>
            <a:r>
              <a:rPr lang="en-US" dirty="0" err="1">
                <a:latin typeface="Arial"/>
                <a:ea typeface="+mn-lt"/>
                <a:cs typeface="+mn-lt"/>
              </a:rPr>
              <a:t>objetos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pt-BR" dirty="0">
              <a:latin typeface="Arial"/>
              <a:cs typeface="Arial"/>
            </a:endParaRPr>
          </a:p>
          <a:p>
            <a:pPr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Cada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imagem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possui</a:t>
            </a:r>
            <a:r>
              <a:rPr lang="en-US" dirty="0">
                <a:latin typeface="Arial"/>
                <a:ea typeface="+mn-lt"/>
                <a:cs typeface="+mn-lt"/>
              </a:rPr>
              <a:t> um </a:t>
            </a:r>
            <a:r>
              <a:rPr lang="en-US" b="1" dirty="0">
                <a:latin typeface="Arial"/>
                <a:ea typeface="+mn-lt"/>
                <a:cs typeface="+mn-lt"/>
              </a:rPr>
              <a:t>.txt</a:t>
            </a:r>
            <a:r>
              <a:rPr lang="en-US" dirty="0">
                <a:latin typeface="Arial"/>
                <a:ea typeface="+mn-lt"/>
                <a:cs typeface="+mn-lt"/>
              </a:rPr>
              <a:t> com:</a:t>
            </a:r>
          </a:p>
          <a:p>
            <a:pPr lvl="1"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Classe</a:t>
            </a:r>
            <a:r>
              <a:rPr lang="en-US" dirty="0">
                <a:latin typeface="Arial"/>
                <a:ea typeface="+mn-lt"/>
                <a:cs typeface="+mn-lt"/>
              </a:rPr>
              <a:t> do </a:t>
            </a:r>
            <a:r>
              <a:rPr lang="en-US" dirty="0" err="1">
                <a:latin typeface="Arial"/>
                <a:ea typeface="+mn-lt"/>
                <a:cs typeface="+mn-lt"/>
              </a:rPr>
              <a:t>objeto</a:t>
            </a:r>
            <a:endParaRPr lang="en-US" dirty="0">
              <a:latin typeface="Arial"/>
              <a:ea typeface="+mn-lt"/>
              <a:cs typeface="+mn-lt"/>
            </a:endParaRPr>
          </a:p>
          <a:p>
            <a:pPr lvl="1"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Coordenadas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normalizadas</a:t>
            </a:r>
            <a:r>
              <a:rPr lang="en-US" dirty="0">
                <a:latin typeface="Arial"/>
                <a:ea typeface="+mn-lt"/>
                <a:cs typeface="+mn-lt"/>
              </a:rPr>
              <a:t> da bounding box</a:t>
            </a:r>
            <a:endParaRPr lang="en-US" dirty="0">
              <a:latin typeface="Arial"/>
              <a:cs typeface="Arial"/>
            </a:endParaRPr>
          </a:p>
          <a:p>
            <a:pPr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Vantagens</a:t>
            </a:r>
            <a:r>
              <a:rPr lang="en-US" dirty="0">
                <a:latin typeface="Arial"/>
                <a:ea typeface="+mn-lt"/>
                <a:cs typeface="+mn-lt"/>
              </a:rPr>
              <a:t> do YOLO:</a:t>
            </a:r>
          </a:p>
          <a:p>
            <a:pPr lvl="1"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Maior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precisão</a:t>
            </a:r>
            <a:endParaRPr lang="en-US" dirty="0">
              <a:latin typeface="Arial"/>
              <a:ea typeface="+mn-lt"/>
              <a:cs typeface="+mn-lt"/>
            </a:endParaRPr>
          </a:p>
          <a:p>
            <a:pPr lvl="1"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Desempenho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em</a:t>
            </a:r>
            <a:r>
              <a:rPr lang="en-US" dirty="0">
                <a:latin typeface="Arial"/>
                <a:ea typeface="+mn-lt"/>
                <a:cs typeface="+mn-lt"/>
              </a:rPr>
              <a:t> tempo real</a:t>
            </a:r>
          </a:p>
          <a:p>
            <a:pPr lvl="1">
              <a:buFont typeface="Wingdings 3"/>
              <a:buChar char=""/>
            </a:pPr>
            <a:r>
              <a:rPr lang="en-US" dirty="0" err="1">
                <a:latin typeface="Arial"/>
                <a:ea typeface="+mn-lt"/>
                <a:cs typeface="+mn-lt"/>
              </a:rPr>
              <a:t>Melhor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capacidade</a:t>
            </a:r>
            <a:r>
              <a:rPr lang="en-US" dirty="0">
                <a:latin typeface="Arial"/>
                <a:ea typeface="+mn-lt"/>
                <a:cs typeface="+mn-lt"/>
              </a:rPr>
              <a:t> de </a:t>
            </a:r>
            <a:r>
              <a:rPr lang="en-US" dirty="0" err="1">
                <a:latin typeface="Arial"/>
                <a:ea typeface="+mn-lt"/>
                <a:cs typeface="+mn-lt"/>
              </a:rPr>
              <a:t>generalização</a:t>
            </a:r>
            <a:endParaRPr lang="en-US" dirty="0">
              <a:latin typeface="Arial"/>
              <a:cs typeface="Arial"/>
            </a:endParaRPr>
          </a:p>
          <a:p>
            <a:pPr marL="457200" lvl="1" indent="0">
              <a:buNone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022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A43F-31FA-BDE7-9C00-8D7F2A36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7694-15F1-3B41-3E3D-1DBCAAE2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59" y="496727"/>
            <a:ext cx="4534511" cy="7428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j-lt"/>
                <a:cs typeface="+mj-lt"/>
              </a:rPr>
              <a:t>Plataforma </a:t>
            </a:r>
            <a:r>
              <a:rPr lang="en-US" dirty="0" err="1">
                <a:ea typeface="+mj-lt"/>
                <a:cs typeface="+mj-lt"/>
              </a:rPr>
              <a:t>Roboflow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499C-9861-1A41-E31B-11533887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15" y="2724346"/>
            <a:ext cx="6338547" cy="322640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 3"/>
              <a:buChar char=""/>
            </a:pPr>
            <a:r>
              <a:rPr lang="en-US" dirty="0" err="1">
                <a:ea typeface="+mn-lt"/>
                <a:cs typeface="+mn-lt"/>
              </a:rPr>
              <a:t>Usada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organizar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preparar</a:t>
            </a:r>
            <a:r>
              <a:rPr lang="en-US" dirty="0">
                <a:ea typeface="+mn-lt"/>
                <a:cs typeface="+mn-lt"/>
              </a:rPr>
              <a:t> o dataset no </a:t>
            </a:r>
            <a:r>
              <a:rPr lang="en-US" dirty="0" err="1">
                <a:ea typeface="+mn-lt"/>
                <a:cs typeface="+mn-lt"/>
              </a:rPr>
              <a:t>formato</a:t>
            </a:r>
            <a:r>
              <a:rPr lang="en-US" dirty="0">
                <a:ea typeface="+mn-lt"/>
                <a:cs typeface="+mn-lt"/>
              </a:rPr>
              <a:t> YOLO.</a:t>
            </a:r>
            <a:endParaRPr lang="en-US" dirty="0">
              <a:latin typeface="Arial"/>
              <a:cs typeface="Arial"/>
            </a:endParaRPr>
          </a:p>
          <a:p>
            <a:pPr>
              <a:buFont typeface="Wingdings 3"/>
              <a:buChar char=""/>
            </a:pPr>
            <a:r>
              <a:rPr lang="en-US" dirty="0" err="1">
                <a:ea typeface="+mn-lt"/>
                <a:cs typeface="+mn-lt"/>
              </a:rPr>
              <a:t>Recursos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principais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Font typeface="Wingdings 3"/>
              <a:buChar char=""/>
            </a:pPr>
            <a:r>
              <a:rPr lang="en-US" b="1" dirty="0" err="1">
                <a:ea typeface="+mn-lt"/>
                <a:cs typeface="+mn-lt"/>
              </a:rPr>
              <a:t>Versionamento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controle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das </a:t>
            </a:r>
            <a:r>
              <a:rPr lang="en-US" dirty="0" err="1">
                <a:ea typeface="+mn-lt"/>
                <a:cs typeface="+mn-lt"/>
              </a:rPr>
              <a:t>versões</a:t>
            </a:r>
            <a:r>
              <a:rPr lang="en-US" dirty="0">
                <a:ea typeface="+mn-lt"/>
                <a:cs typeface="+mn-lt"/>
              </a:rPr>
              <a:t> do dataset.</a:t>
            </a:r>
            <a:endParaRPr lang="en-US" dirty="0"/>
          </a:p>
          <a:p>
            <a:pPr lvl="1">
              <a:buFont typeface="Wingdings 3"/>
              <a:buChar char=""/>
            </a:pPr>
            <a:r>
              <a:rPr lang="en-US" b="1" dirty="0" err="1">
                <a:ea typeface="+mn-lt"/>
                <a:cs typeface="+mn-lt"/>
              </a:rPr>
              <a:t>Pré-processamento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redimensionamento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padronização</a:t>
            </a:r>
            <a:r>
              <a:rPr lang="en-US" dirty="0">
                <a:ea typeface="+mn-lt"/>
                <a:cs typeface="+mn-lt"/>
              </a:rPr>
              <a:t> das imagens.</a:t>
            </a:r>
            <a:endParaRPr lang="en-US" dirty="0"/>
          </a:p>
          <a:p>
            <a:pPr lvl="1">
              <a:buFont typeface="Wingdings 3"/>
              <a:buChar char=""/>
            </a:pPr>
            <a:r>
              <a:rPr lang="en-US" b="1" dirty="0">
                <a:ea typeface="+mn-lt"/>
                <a:cs typeface="+mn-lt"/>
              </a:rPr>
              <a:t>Data Augmentation: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criação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variações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giros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recortes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iluminação</a:t>
            </a:r>
            <a:r>
              <a:rPr lang="en-US" dirty="0">
                <a:ea typeface="+mn-lt"/>
                <a:cs typeface="+mn-lt"/>
              </a:rPr>
              <a:t>) para </a:t>
            </a:r>
            <a:r>
              <a:rPr lang="en-US" dirty="0" err="1">
                <a:ea typeface="+mn-lt"/>
                <a:cs typeface="+mn-lt"/>
              </a:rPr>
              <a:t>tornar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modelo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robusto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Wingdings 3"/>
              <a:buChar char=""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96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E818D-CB12-768A-47CB-CFBC55AD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1E329-9BC1-EC3B-BF6C-194A32B75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010" y="2853028"/>
            <a:ext cx="7617803" cy="11519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 err="1">
                <a:solidFill>
                  <a:schemeClr val="accent1">
                    <a:lumMod val="76000"/>
                  </a:schemeClr>
                </a:solidFill>
                <a:latin typeface="Arial"/>
                <a:cs typeface="Arial"/>
              </a:rPr>
              <a:t>Infraestrutura</a:t>
            </a:r>
            <a:endParaRPr lang="pt-BR" sz="6000" dirty="0">
              <a:solidFill>
                <a:schemeClr val="accent1">
                  <a:lumMod val="76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9589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7">
            <a:extLst>
              <a:ext uri="{FF2B5EF4-FFF2-40B4-BE49-F238E27FC236}">
                <a16:creationId xmlns:a16="http://schemas.microsoft.com/office/drawing/2014/main" id="{A4D026A2-7476-44B0-9648-BB98882F7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F8FC21-0A44-4045-95A1-B7935D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09B962-CD29-4D46-A7B0-10F6C7CF1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CC8D40CF-4D47-411D-A8B7-0E4B29E98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B48A2AD-5257-4384-A7F5-A1EE4E68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04C26DE3-844C-47DA-831E-E7D7BF61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922D975E-0684-4AA6-9FB7-929B250D5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8ED5A9A-F0C7-4547-BC1E-22FC89BD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D743765-A245-4349-A5CE-4AB5F078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AF7217B-D042-44D2-9FC7-71FAB665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CC9171B-8BEB-48B1-B9BE-E9584522D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6" name="Rectangle 19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21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8" name="Rectangle 32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drawing">
            <a:extLst>
              <a:ext uri="{FF2B5EF4-FFF2-40B4-BE49-F238E27FC236}">
                <a16:creationId xmlns:a16="http://schemas.microsoft.com/office/drawing/2014/main" id="{419C336C-6AB4-4797-841D-C0EBDB04085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26" y="2628599"/>
            <a:ext cx="11153500" cy="192253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9B22AF5-535B-4086-BE7E-E2A4C8709D82}"/>
              </a:ext>
            </a:extLst>
          </p:cNvPr>
          <p:cNvSpPr txBox="1"/>
          <p:nvPr/>
        </p:nvSpPr>
        <p:spPr>
          <a:xfrm>
            <a:off x="1574700" y="1342396"/>
            <a:ext cx="903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/>
                <a:ea typeface="+mj-ea"/>
                <a:cs typeface="Arial"/>
              </a:rPr>
              <a:t>Arquitetura de infraestrutura em nuvem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197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BF49C-C2C2-79B6-4E29-8A0078EA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3E1DB-9460-CF63-0075-5BBE1873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rebuchet MS"/>
                <a:cs typeface="Arial"/>
              </a:rPr>
              <a:t>Análise Comparativa dos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794F16-1800-FC1E-6997-62079994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pt-BR" b="1" dirty="0">
                <a:latin typeface="Trebuchet MS"/>
                <a:ea typeface="+mn-lt"/>
                <a:cs typeface="Arial"/>
              </a:rPr>
              <a:t>Algoritmo 1 (Byte)</a:t>
            </a:r>
            <a:endParaRPr lang="pt-BR" dirty="0">
              <a:latin typeface="Trebuchet MS"/>
              <a:ea typeface="+mn-lt"/>
              <a:cs typeface="Arial"/>
            </a:endParaRPr>
          </a:p>
          <a:p>
            <a:pPr lvl="1" algn="just"/>
            <a:r>
              <a:rPr lang="pt-BR" dirty="0">
                <a:latin typeface="Trebuchet MS"/>
                <a:ea typeface="+mn-lt"/>
                <a:cs typeface="Arial"/>
              </a:rPr>
              <a:t>Executou em tempos médios entre </a:t>
            </a:r>
            <a:r>
              <a:rPr lang="pt-BR" b="1" dirty="0">
                <a:latin typeface="Trebuchet MS"/>
                <a:ea typeface="+mn-lt"/>
                <a:cs typeface="Arial"/>
              </a:rPr>
              <a:t>512–618 </a:t>
            </a:r>
            <a:r>
              <a:rPr lang="pt-BR" b="1" dirty="0" err="1">
                <a:latin typeface="Trebuchet MS"/>
                <a:ea typeface="+mn-lt"/>
                <a:cs typeface="Arial"/>
              </a:rPr>
              <a:t>ms</a:t>
            </a:r>
            <a:r>
              <a:rPr lang="pt-BR" dirty="0">
                <a:latin typeface="Trebuchet MS"/>
                <a:ea typeface="+mn-lt"/>
                <a:cs typeface="Arial"/>
              </a:rPr>
              <a:t> com </a:t>
            </a:r>
            <a:r>
              <a:rPr lang="pt-BR" b="1" dirty="0">
                <a:latin typeface="Trebuchet MS"/>
                <a:ea typeface="+mn-lt"/>
                <a:cs typeface="Arial"/>
              </a:rPr>
              <a:t>0,5 GB de memória</a:t>
            </a:r>
            <a:r>
              <a:rPr lang="pt-BR" dirty="0">
                <a:latin typeface="Trebuchet MS"/>
                <a:ea typeface="+mn-lt"/>
                <a:cs typeface="Arial"/>
              </a:rPr>
              <a:t>.</a:t>
            </a:r>
          </a:p>
          <a:p>
            <a:pPr lvl="1" algn="just"/>
            <a:r>
              <a:rPr lang="pt-BR" dirty="0">
                <a:latin typeface="Trebuchet MS"/>
                <a:ea typeface="+mn-lt"/>
                <a:cs typeface="Arial"/>
              </a:rPr>
              <a:t>Apresentou os </a:t>
            </a:r>
            <a:r>
              <a:rPr lang="pt-BR" b="1" dirty="0">
                <a:latin typeface="Trebuchet MS"/>
                <a:ea typeface="+mn-lt"/>
                <a:cs typeface="Arial"/>
              </a:rPr>
              <a:t>menores custos por execução</a:t>
            </a:r>
            <a:r>
              <a:rPr lang="pt-BR" dirty="0">
                <a:latin typeface="Trebuchet MS"/>
                <a:ea typeface="+mn-lt"/>
                <a:cs typeface="Arial"/>
              </a:rPr>
              <a:t>, variando entre </a:t>
            </a:r>
            <a:r>
              <a:rPr lang="pt-BR" b="1" dirty="0">
                <a:latin typeface="Trebuchet MS"/>
                <a:ea typeface="+mn-lt"/>
                <a:cs typeface="Arial"/>
              </a:rPr>
              <a:t>4,27×10⁻⁶ e 5,15×10⁻⁶ USD</a:t>
            </a:r>
            <a:r>
              <a:rPr lang="pt-BR" dirty="0">
                <a:latin typeface="Trebuchet MS"/>
                <a:ea typeface="+mn-lt"/>
                <a:cs typeface="Arial"/>
              </a:rPr>
              <a:t>.</a:t>
            </a:r>
          </a:p>
          <a:p>
            <a:pPr lvl="1" algn="just"/>
            <a:r>
              <a:rPr lang="pt-BR" dirty="0">
                <a:latin typeface="Trebuchet MS"/>
                <a:ea typeface="+mn-lt"/>
                <a:cs typeface="Arial"/>
              </a:rPr>
              <a:t>Demonstrou maior eficiência em cenários com imagens de até ~755 KB, mantendo baixo consumo de recursos.</a:t>
            </a:r>
          </a:p>
          <a:p>
            <a:pPr algn="just"/>
            <a:r>
              <a:rPr lang="pt-BR" b="1" dirty="0">
                <a:latin typeface="Trebuchet MS"/>
                <a:ea typeface="+mn-lt"/>
                <a:cs typeface="Arial"/>
              </a:rPr>
              <a:t>Algoritmo 2 (Download)</a:t>
            </a:r>
            <a:endParaRPr lang="pt-BR" dirty="0">
              <a:latin typeface="Trebuchet MS"/>
              <a:ea typeface="+mn-lt"/>
              <a:cs typeface="Arial"/>
            </a:endParaRPr>
          </a:p>
          <a:p>
            <a:pPr lvl="1" algn="just"/>
            <a:r>
              <a:rPr lang="pt-BR" dirty="0">
                <a:latin typeface="Trebuchet MS"/>
                <a:ea typeface="+mn-lt"/>
                <a:cs typeface="Arial"/>
              </a:rPr>
              <a:t>Obteve tempos de execução semelhantes, mas com maior variação de memória e imagens maiores (até 7061 KB).</a:t>
            </a:r>
          </a:p>
          <a:p>
            <a:pPr lvl="1" algn="just"/>
            <a:r>
              <a:rPr lang="pt-BR" dirty="0">
                <a:latin typeface="Trebuchet MS"/>
                <a:ea typeface="+mn-lt"/>
                <a:cs typeface="Arial"/>
              </a:rPr>
              <a:t>Os custos por execução foram superiores, chegando a </a:t>
            </a:r>
            <a:r>
              <a:rPr lang="pt-BR" b="1" dirty="0">
                <a:latin typeface="Trebuchet MS"/>
                <a:ea typeface="+mn-lt"/>
                <a:cs typeface="Arial"/>
              </a:rPr>
              <a:t>9,27×10⁻⁶ USD</a:t>
            </a:r>
            <a:r>
              <a:rPr lang="pt-BR" dirty="0">
                <a:latin typeface="Trebuchet MS"/>
                <a:ea typeface="+mn-lt"/>
                <a:cs typeface="Arial"/>
              </a:rPr>
              <a:t> em imagens médias e até </a:t>
            </a:r>
            <a:r>
              <a:rPr lang="pt-BR" b="1" dirty="0">
                <a:latin typeface="Trebuchet MS"/>
                <a:ea typeface="+mn-lt"/>
                <a:cs typeface="Arial"/>
              </a:rPr>
              <a:t>5,0×10⁻⁵ USD</a:t>
            </a:r>
            <a:r>
              <a:rPr lang="pt-BR" dirty="0">
                <a:latin typeface="Trebuchet MS"/>
                <a:ea typeface="+mn-lt"/>
                <a:cs typeface="Arial"/>
              </a:rPr>
              <a:t> em imagens grandes (~22 MB).</a:t>
            </a:r>
          </a:p>
          <a:p>
            <a:pPr lvl="1" algn="just"/>
            <a:r>
              <a:rPr lang="pt-BR" dirty="0">
                <a:latin typeface="Trebuchet MS"/>
                <a:ea typeface="+mn-lt"/>
                <a:cs typeface="Arial"/>
              </a:rPr>
              <a:t>Apesar de robusto, mostrou-se menos eficiente em termos de custo-benefício.</a:t>
            </a:r>
          </a:p>
        </p:txBody>
      </p:sp>
    </p:spTree>
    <p:extLst>
      <p:ext uri="{BB962C8B-B14F-4D97-AF65-F5344CB8AC3E}">
        <p14:creationId xmlns:p14="http://schemas.microsoft.com/office/powerpoint/2010/main" val="417375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FC023-48D1-09D1-0378-56A7C569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1BFB-1A59-FEB6-41EB-8F8B12B5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38" y="2445933"/>
            <a:ext cx="10457035" cy="21749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 err="1">
                <a:solidFill>
                  <a:schemeClr val="accent1">
                    <a:lumMod val="76000"/>
                  </a:schemeClr>
                </a:solidFill>
                <a:latin typeface="Arial"/>
                <a:cs typeface="Arial"/>
              </a:rPr>
              <a:t>Modelo</a:t>
            </a:r>
            <a:r>
              <a:rPr lang="en-US" sz="6000" dirty="0">
                <a:solidFill>
                  <a:schemeClr val="accent1">
                    <a:lumMod val="76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sz="6000" dirty="0" err="1">
                <a:solidFill>
                  <a:schemeClr val="accent1">
                    <a:lumMod val="76000"/>
                  </a:schemeClr>
                </a:solidFill>
                <a:latin typeface="Arial"/>
                <a:cs typeface="Arial"/>
              </a:rPr>
              <a:t>Reconhecimento</a:t>
            </a:r>
            <a:endParaRPr lang="en-US" sz="6000" dirty="0">
              <a:solidFill>
                <a:schemeClr val="accent1">
                  <a:lumMod val="76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1933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E0AEA-4E5F-8309-9DD2-5A05E915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Colab Notebook com Yolo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139C65-149C-D0C8-F7FF-30BFCD34B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https://colab.research.google.com/drive/1W18sS6hc56ivULxcudP1g0TYkU8kQZFK?usp=sharing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318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FC023-48D1-09D1-0378-56A7C569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1BFB-1A59-FEB6-41EB-8F8B12B5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518" y="1816013"/>
            <a:ext cx="6017115" cy="30283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 err="1">
                <a:solidFill>
                  <a:schemeClr val="accent1">
                    <a:lumMod val="76000"/>
                  </a:schemeClr>
                </a:solidFill>
                <a:latin typeface="Arial"/>
                <a:cs typeface="Arial"/>
              </a:rPr>
              <a:t>Conclusão</a:t>
            </a:r>
            <a:r>
              <a:rPr lang="en-US" sz="6000" dirty="0">
                <a:solidFill>
                  <a:schemeClr val="accent1">
                    <a:lumMod val="76000"/>
                  </a:schemeClr>
                </a:solidFill>
                <a:latin typeface="Arial"/>
                <a:cs typeface="Arial"/>
              </a:rPr>
              <a:t> e </a:t>
            </a:r>
            <a:r>
              <a:rPr lang="en-US" sz="6000" dirty="0" err="1">
                <a:solidFill>
                  <a:schemeClr val="accent1">
                    <a:lumMod val="76000"/>
                  </a:schemeClr>
                </a:solidFill>
                <a:latin typeface="Arial"/>
                <a:cs typeface="Arial"/>
              </a:rPr>
              <a:t>agradecimentos</a:t>
            </a:r>
            <a:endParaRPr lang="pt-BR" dirty="0">
              <a:solidFill>
                <a:schemeClr val="accent1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790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E0AEA-4E5F-8309-9DD2-5A05E915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5459"/>
          </a:xfrm>
        </p:spPr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139C65-149C-D0C8-F7FF-30BFCD34B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67627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A expansão e diversificação do </a:t>
            </a:r>
            <a:r>
              <a:rPr lang="pt-BR" dirty="0" err="1"/>
              <a:t>dataset</a:t>
            </a:r>
            <a:r>
              <a:rPr lang="pt-BR" dirty="0"/>
              <a:t> melhoraram significativamente as métricas, especialmente o recall da classe vidro, e elevaram a qualidade das predições (altos </a:t>
            </a:r>
            <a:r>
              <a:rPr lang="pt-BR" dirty="0" err="1"/>
              <a:t>mAPs</a:t>
            </a:r>
            <a:r>
              <a:rPr lang="pt-BR" dirty="0"/>
              <a:t>). </a:t>
            </a:r>
          </a:p>
          <a:p>
            <a:r>
              <a:rPr lang="pt-BR" dirty="0"/>
              <a:t>A solução oferece benefícios práticos: maior eficiência, redução de erros humanos e melhoria das condições de trabalho, alinhando-se à economia circular.</a:t>
            </a:r>
          </a:p>
          <a:p>
            <a:r>
              <a:rPr lang="pt-BR" dirty="0"/>
              <a:t>Como sistema especialista, o modelo não identifica objetos não rotulados, dependendo fortemente da qualidade e abrangência dos dados de treinamento.</a:t>
            </a:r>
          </a:p>
        </p:txBody>
      </p:sp>
    </p:spTree>
    <p:extLst>
      <p:ext uri="{BB962C8B-B14F-4D97-AF65-F5344CB8AC3E}">
        <p14:creationId xmlns:p14="http://schemas.microsoft.com/office/powerpoint/2010/main" val="32714900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575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Courier New</vt:lpstr>
      <vt:lpstr>Trebuchet MS</vt:lpstr>
      <vt:lpstr>Wingdings</vt:lpstr>
      <vt:lpstr>Wingdings 3</vt:lpstr>
      <vt:lpstr>Facet</vt:lpstr>
      <vt:lpstr>CHALLENGE FOR THE CLASSIFICATION OF LABELED RECYCLABLE MATERIALS FOCUSED ON GLASS AND PLASTIC USING ARTIFICIAL INTELLIGENCE AND COMPUTER VISION</vt:lpstr>
      <vt:lpstr>Contextualização</vt:lpstr>
      <vt:lpstr>Contextualização Técnica</vt:lpstr>
      <vt:lpstr>Fundamentos Técnicos </vt:lpstr>
      <vt:lpstr>Avaliação do Desempenho</vt:lpstr>
      <vt:lpstr>Estrutura da Base de Dados (YOLO)</vt:lpstr>
      <vt:lpstr>Plataforma Roboflow</vt:lpstr>
      <vt:lpstr>Infraestrutura</vt:lpstr>
      <vt:lpstr>Apresentação do PowerPoint</vt:lpstr>
      <vt:lpstr>Análise Comparativa dos Algoritmos</vt:lpstr>
      <vt:lpstr>Modelo de Reconhecimento</vt:lpstr>
      <vt:lpstr>Colab Notebook com Yolo</vt:lpstr>
      <vt:lpstr>Conclusão e agradecimentos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FOR THE CLASSIFICATION OF LABELED RECYCLABLE MATERIALS FOCUSED ON GLASS AND PLASTIC USING ARTIFICIAL INTELLIGENCE AND COMPUTER VISION</dc:title>
  <dc:creator/>
  <cp:lastModifiedBy>Helder Davidson Rodrigues Alvarenga</cp:lastModifiedBy>
  <cp:revision>8</cp:revision>
  <dcterms:created xsi:type="dcterms:W3CDTF">2025-04-23T21:53:32Z</dcterms:created>
  <dcterms:modified xsi:type="dcterms:W3CDTF">2025-11-29T18:00:39Z</dcterms:modified>
</cp:coreProperties>
</file>